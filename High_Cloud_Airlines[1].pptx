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6858000" cy="9144000"/>
  <p:embeddedFontLs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Marcellus" panose="020B0604020202020204" charset="0"/>
      <p:regular r:id="rId36"/>
    </p:embeddedFont>
    <p:embeddedFont>
      <p:font typeface="Montserrat" panose="00000500000000000000" pitchFamily="2" charset="0"/>
      <p:regular r:id="rId37"/>
    </p:embeddedFont>
    <p:embeddedFont>
      <p:font typeface="Montserrat Bold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068195" y="962025"/>
            <a:ext cx="10629005" cy="10172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12"/>
              </a:lnSpc>
            </a:pPr>
            <a:r>
              <a:rPr lang="en-US" sz="6374" dirty="0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High Cloud Data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274219"/>
            <a:ext cx="6791477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1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Project Member Name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789248"/>
            <a:ext cx="16303523" cy="319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Naavya Kumar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Gayathri Dantu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Sakshi Shivraj Patil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K. Ruth Celestial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Sonika Hampapura Raju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Ahmed Nuh Khalif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E.vamsi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068195" y="962025"/>
            <a:ext cx="8151609" cy="112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12"/>
              </a:lnSpc>
            </a:pPr>
            <a:r>
              <a:rPr lang="en-US" sz="637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Index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408509"/>
            <a:ext cx="16303523" cy="2258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KPI Analysis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Insights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Dashboards (Tableau, Power BI, Excel, MySQL)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Recommendation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Challenges Faced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900113"/>
            <a:ext cx="8151609" cy="112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2"/>
              </a:lnSpc>
            </a:pPr>
            <a:r>
              <a:rPr lang="en-US" sz="637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KPI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574427"/>
            <a:ext cx="16303523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make time based analysis easier: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3280915"/>
            <a:ext cx="16303523" cy="5351707"/>
            <a:chOff x="0" y="0"/>
            <a:chExt cx="21738031" cy="7135609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1738082" cy="7135622"/>
            </a:xfrm>
            <a:custGeom>
              <a:avLst/>
              <a:gdLst/>
              <a:ahLst/>
              <a:cxnLst/>
              <a:rect l="l" t="t" r="r" b="b"/>
              <a:pathLst>
                <a:path w="21738082" h="7135622">
                  <a:moveTo>
                    <a:pt x="0" y="0"/>
                  </a:moveTo>
                  <a:lnTo>
                    <a:pt x="21738082" y="0"/>
                  </a:lnTo>
                  <a:lnTo>
                    <a:pt x="21738082" y="7135622"/>
                  </a:lnTo>
                  <a:lnTo>
                    <a:pt x="0" y="7135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"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529709"/>
            <a:ext cx="9579383" cy="82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1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Load Factor Trend (Year-wise)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3441059"/>
            <a:ext cx="16313048" cy="5850731"/>
            <a:chOff x="0" y="0"/>
            <a:chExt cx="21750731" cy="78009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0782" cy="7800975"/>
            </a:xfrm>
            <a:custGeom>
              <a:avLst/>
              <a:gdLst/>
              <a:ahLst/>
              <a:cxnLst/>
              <a:rect l="l" t="t" r="r" b="b"/>
              <a:pathLst>
                <a:path w="21750782" h="780097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21585428" y="0"/>
                  </a:lnTo>
                  <a:lnTo>
                    <a:pt x="21585428" y="6350"/>
                  </a:lnTo>
                  <a:lnTo>
                    <a:pt x="21585428" y="0"/>
                  </a:lnTo>
                  <a:cubicBezTo>
                    <a:pt x="21676742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7635875"/>
                  </a:lnTo>
                  <a:lnTo>
                    <a:pt x="21744432" y="7635875"/>
                  </a:lnTo>
                  <a:lnTo>
                    <a:pt x="21750782" y="7635875"/>
                  </a:lnTo>
                  <a:cubicBezTo>
                    <a:pt x="21750782" y="7727061"/>
                    <a:pt x="21676742" y="7800975"/>
                    <a:pt x="21585428" y="7800975"/>
                  </a:cubicBezTo>
                  <a:lnTo>
                    <a:pt x="21585428" y="7794625"/>
                  </a:lnTo>
                  <a:lnTo>
                    <a:pt x="21585428" y="7800975"/>
                  </a:lnTo>
                  <a:lnTo>
                    <a:pt x="165354" y="7800975"/>
                  </a:lnTo>
                  <a:lnTo>
                    <a:pt x="165354" y="7794625"/>
                  </a:lnTo>
                  <a:lnTo>
                    <a:pt x="165354" y="7800975"/>
                  </a:lnTo>
                  <a:cubicBezTo>
                    <a:pt x="74041" y="7800975"/>
                    <a:pt x="0" y="7727061"/>
                    <a:pt x="0" y="7635875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7635875"/>
                  </a:lnTo>
                  <a:lnTo>
                    <a:pt x="6350" y="7635875"/>
                  </a:lnTo>
                  <a:lnTo>
                    <a:pt x="12700" y="7635875"/>
                  </a:lnTo>
                  <a:cubicBezTo>
                    <a:pt x="12700" y="7720076"/>
                    <a:pt x="81026" y="7788275"/>
                    <a:pt x="165354" y="7788275"/>
                  </a:cubicBezTo>
                  <a:lnTo>
                    <a:pt x="21585428" y="7788275"/>
                  </a:lnTo>
                  <a:cubicBezTo>
                    <a:pt x="21669756" y="7788275"/>
                    <a:pt x="21738082" y="7720076"/>
                    <a:pt x="21738082" y="7635875"/>
                  </a:cubicBezTo>
                  <a:lnTo>
                    <a:pt x="21738082" y="165100"/>
                  </a:lnTo>
                  <a:cubicBezTo>
                    <a:pt x="21738082" y="80899"/>
                    <a:pt x="21669756" y="12700"/>
                    <a:pt x="21585428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1763" y="3455346"/>
            <a:ext cx="16284473" cy="727767"/>
            <a:chOff x="0" y="0"/>
            <a:chExt cx="21712631" cy="9703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85284" y="3615928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Row Labels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32284" y="3615928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Sum of Load Factor %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01763" y="4183113"/>
            <a:ext cx="16284473" cy="727767"/>
            <a:chOff x="0" y="0"/>
            <a:chExt cx="21712631" cy="9703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85284" y="4343695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2008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32284" y="4343695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15.83%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01763" y="4910880"/>
            <a:ext cx="16284473" cy="727767"/>
            <a:chOff x="0" y="0"/>
            <a:chExt cx="21712631" cy="9703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85284" y="5071472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2009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32284" y="5071472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15.66%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1763" y="5638648"/>
            <a:ext cx="16284473" cy="727767"/>
            <a:chOff x="0" y="0"/>
            <a:chExt cx="21712631" cy="97035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85284" y="5799239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2010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32284" y="5799239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16.82%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01763" y="6366424"/>
            <a:ext cx="16284473" cy="727767"/>
            <a:chOff x="0" y="0"/>
            <a:chExt cx="21712631" cy="97035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85284" y="6527006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2011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32284" y="6527006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17.42%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01763" y="7094191"/>
            <a:ext cx="16284473" cy="727767"/>
            <a:chOff x="0" y="0"/>
            <a:chExt cx="21712631" cy="97035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85284" y="7254773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2012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32284" y="7254773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16.87%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01763" y="7821959"/>
            <a:ext cx="16284473" cy="727767"/>
            <a:chOff x="0" y="0"/>
            <a:chExt cx="21712631" cy="97035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85284" y="7982541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2013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32284" y="7982541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17.40%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01763" y="8549726"/>
            <a:ext cx="16284473" cy="727767"/>
            <a:chOff x="0" y="0"/>
            <a:chExt cx="21712631" cy="97035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285284" y="8710317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Grand Total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432284" y="8710317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100.00%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898236"/>
            <a:ext cx="9987042" cy="82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1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Year-wise Load Factor 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341579"/>
            <a:ext cx="16303523" cy="252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Load factor shows a gradual increase over the years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Indicates improved performance and better utilization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Strong growth observed from 2008 to 2011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Peak performance in 2011 (17.42%)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Slight decline in 2012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Recovered again in 2013, showing stability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Overall trend is steady with minor fluctuations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01763" y="839289"/>
            <a:ext cx="9835970" cy="77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50"/>
              </a:lnSpc>
            </a:pPr>
            <a:r>
              <a:rPr lang="en-US" sz="4812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Load Factor Trend (Month-wise)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2522039"/>
            <a:ext cx="16313048" cy="6356452"/>
            <a:chOff x="0" y="0"/>
            <a:chExt cx="21750731" cy="84752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0655" cy="8475345"/>
            </a:xfrm>
            <a:custGeom>
              <a:avLst/>
              <a:gdLst/>
              <a:ahLst/>
              <a:cxnLst/>
              <a:rect l="l" t="t" r="r" b="b"/>
              <a:pathLst>
                <a:path w="21750655" h="8475345">
                  <a:moveTo>
                    <a:pt x="0" y="125476"/>
                  </a:moveTo>
                  <a:cubicBezTo>
                    <a:pt x="0" y="56134"/>
                    <a:pt x="56261" y="0"/>
                    <a:pt x="125476" y="0"/>
                  </a:cubicBezTo>
                  <a:lnTo>
                    <a:pt x="21625179" y="0"/>
                  </a:lnTo>
                  <a:lnTo>
                    <a:pt x="21625179" y="6350"/>
                  </a:lnTo>
                  <a:lnTo>
                    <a:pt x="21625179" y="0"/>
                  </a:lnTo>
                  <a:cubicBezTo>
                    <a:pt x="21694521" y="0"/>
                    <a:pt x="21750655" y="56134"/>
                    <a:pt x="21750655" y="125476"/>
                  </a:cubicBezTo>
                  <a:lnTo>
                    <a:pt x="21744305" y="125476"/>
                  </a:lnTo>
                  <a:lnTo>
                    <a:pt x="21750655" y="125476"/>
                  </a:lnTo>
                  <a:lnTo>
                    <a:pt x="21750655" y="8349869"/>
                  </a:lnTo>
                  <a:lnTo>
                    <a:pt x="21744305" y="8349869"/>
                  </a:lnTo>
                  <a:lnTo>
                    <a:pt x="21750655" y="8349869"/>
                  </a:lnTo>
                  <a:cubicBezTo>
                    <a:pt x="21750655" y="8419084"/>
                    <a:pt x="21694394" y="8475345"/>
                    <a:pt x="21625179" y="8475345"/>
                  </a:cubicBezTo>
                  <a:lnTo>
                    <a:pt x="21625179" y="8468995"/>
                  </a:lnTo>
                  <a:lnTo>
                    <a:pt x="21625179" y="8475345"/>
                  </a:lnTo>
                  <a:lnTo>
                    <a:pt x="125476" y="8475345"/>
                  </a:lnTo>
                  <a:lnTo>
                    <a:pt x="125476" y="8468995"/>
                  </a:lnTo>
                  <a:lnTo>
                    <a:pt x="125476" y="8475345"/>
                  </a:lnTo>
                  <a:cubicBezTo>
                    <a:pt x="56134" y="8475345"/>
                    <a:pt x="0" y="8419211"/>
                    <a:pt x="0" y="8349869"/>
                  </a:cubicBezTo>
                  <a:lnTo>
                    <a:pt x="0" y="125476"/>
                  </a:lnTo>
                  <a:lnTo>
                    <a:pt x="6350" y="125476"/>
                  </a:lnTo>
                  <a:lnTo>
                    <a:pt x="0" y="125476"/>
                  </a:lnTo>
                  <a:moveTo>
                    <a:pt x="12700" y="125476"/>
                  </a:moveTo>
                  <a:lnTo>
                    <a:pt x="12700" y="8349869"/>
                  </a:lnTo>
                  <a:lnTo>
                    <a:pt x="6350" y="8349869"/>
                  </a:lnTo>
                  <a:lnTo>
                    <a:pt x="12700" y="8349869"/>
                  </a:lnTo>
                  <a:cubicBezTo>
                    <a:pt x="12700" y="8412099"/>
                    <a:pt x="63246" y="8462645"/>
                    <a:pt x="125476" y="8462645"/>
                  </a:cubicBezTo>
                  <a:lnTo>
                    <a:pt x="21625179" y="8462645"/>
                  </a:lnTo>
                  <a:cubicBezTo>
                    <a:pt x="21687537" y="8462645"/>
                    <a:pt x="21737955" y="8412225"/>
                    <a:pt x="21737955" y="8349869"/>
                  </a:cubicBezTo>
                  <a:lnTo>
                    <a:pt x="21737955" y="125476"/>
                  </a:lnTo>
                  <a:cubicBezTo>
                    <a:pt x="21737955" y="63246"/>
                    <a:pt x="21687410" y="12700"/>
                    <a:pt x="21625179" y="12700"/>
                  </a:cubicBezTo>
                  <a:lnTo>
                    <a:pt x="125476" y="12700"/>
                  </a:lnTo>
                  <a:lnTo>
                    <a:pt x="125476" y="6350"/>
                  </a:lnTo>
                  <a:lnTo>
                    <a:pt x="125476" y="12700"/>
                  </a:lnTo>
                  <a:cubicBezTo>
                    <a:pt x="63246" y="12700"/>
                    <a:pt x="12700" y="63119"/>
                    <a:pt x="12700" y="125476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1763" y="2536327"/>
            <a:ext cx="16284473" cy="451990"/>
            <a:chOff x="0" y="0"/>
            <a:chExt cx="21712631" cy="6026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12682" cy="602615"/>
            </a:xfrm>
            <a:custGeom>
              <a:avLst/>
              <a:gdLst/>
              <a:ahLst/>
              <a:cxnLst/>
              <a:rect l="l" t="t" r="r" b="b"/>
              <a:pathLst>
                <a:path w="21712682" h="602615">
                  <a:moveTo>
                    <a:pt x="0" y="0"/>
                  </a:moveTo>
                  <a:lnTo>
                    <a:pt x="21712682" y="0"/>
                  </a:lnTo>
                  <a:lnTo>
                    <a:pt x="21712682" y="602615"/>
                  </a:lnTo>
                  <a:lnTo>
                    <a:pt x="0" y="60261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14285" y="2650922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Row Labels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61284" y="2650922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Sum of Load Factor %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01763" y="2988316"/>
            <a:ext cx="16284473" cy="451990"/>
            <a:chOff x="0" y="0"/>
            <a:chExt cx="21712631" cy="6026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12682" cy="602615"/>
            </a:xfrm>
            <a:custGeom>
              <a:avLst/>
              <a:gdLst/>
              <a:ahLst/>
              <a:cxnLst/>
              <a:rect l="l" t="t" r="r" b="b"/>
              <a:pathLst>
                <a:path w="21712682" h="602615">
                  <a:moveTo>
                    <a:pt x="0" y="0"/>
                  </a:moveTo>
                  <a:lnTo>
                    <a:pt x="21712682" y="0"/>
                  </a:lnTo>
                  <a:lnTo>
                    <a:pt x="21712682" y="602615"/>
                  </a:lnTo>
                  <a:lnTo>
                    <a:pt x="0" y="602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14285" y="3102921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January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61284" y="3102921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7.61%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01763" y="3440316"/>
            <a:ext cx="16284473" cy="451990"/>
            <a:chOff x="0" y="0"/>
            <a:chExt cx="21712631" cy="60265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712682" cy="602615"/>
            </a:xfrm>
            <a:custGeom>
              <a:avLst/>
              <a:gdLst/>
              <a:ahLst/>
              <a:cxnLst/>
              <a:rect l="l" t="t" r="r" b="b"/>
              <a:pathLst>
                <a:path w="21712682" h="602615">
                  <a:moveTo>
                    <a:pt x="0" y="0"/>
                  </a:moveTo>
                  <a:lnTo>
                    <a:pt x="21712682" y="0"/>
                  </a:lnTo>
                  <a:lnTo>
                    <a:pt x="21712682" y="602615"/>
                  </a:lnTo>
                  <a:lnTo>
                    <a:pt x="0" y="60261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14285" y="3554911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February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61284" y="3554911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7.57%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1763" y="3892306"/>
            <a:ext cx="16284473" cy="451990"/>
            <a:chOff x="0" y="0"/>
            <a:chExt cx="21712631" cy="60265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12682" cy="602615"/>
            </a:xfrm>
            <a:custGeom>
              <a:avLst/>
              <a:gdLst/>
              <a:ahLst/>
              <a:cxnLst/>
              <a:rect l="l" t="t" r="r" b="b"/>
              <a:pathLst>
                <a:path w="21712682" h="602615">
                  <a:moveTo>
                    <a:pt x="0" y="0"/>
                  </a:moveTo>
                  <a:lnTo>
                    <a:pt x="21712682" y="0"/>
                  </a:lnTo>
                  <a:lnTo>
                    <a:pt x="21712682" y="602615"/>
                  </a:lnTo>
                  <a:lnTo>
                    <a:pt x="0" y="602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14285" y="4006901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March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61284" y="4006901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8.23%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01763" y="4344295"/>
            <a:ext cx="16284473" cy="451990"/>
            <a:chOff x="0" y="0"/>
            <a:chExt cx="21712631" cy="60265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712682" cy="602615"/>
            </a:xfrm>
            <a:custGeom>
              <a:avLst/>
              <a:gdLst/>
              <a:ahLst/>
              <a:cxnLst/>
              <a:rect l="l" t="t" r="r" b="b"/>
              <a:pathLst>
                <a:path w="21712682" h="602615">
                  <a:moveTo>
                    <a:pt x="0" y="0"/>
                  </a:moveTo>
                  <a:lnTo>
                    <a:pt x="21712682" y="0"/>
                  </a:lnTo>
                  <a:lnTo>
                    <a:pt x="21712682" y="602615"/>
                  </a:lnTo>
                  <a:lnTo>
                    <a:pt x="0" y="60261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14285" y="4458891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April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61284" y="4458891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8.29%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01763" y="4796285"/>
            <a:ext cx="16284473" cy="451990"/>
            <a:chOff x="0" y="0"/>
            <a:chExt cx="21712631" cy="60265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712682" cy="602615"/>
            </a:xfrm>
            <a:custGeom>
              <a:avLst/>
              <a:gdLst/>
              <a:ahLst/>
              <a:cxnLst/>
              <a:rect l="l" t="t" r="r" b="b"/>
              <a:pathLst>
                <a:path w="21712682" h="602615">
                  <a:moveTo>
                    <a:pt x="0" y="0"/>
                  </a:moveTo>
                  <a:lnTo>
                    <a:pt x="21712682" y="0"/>
                  </a:lnTo>
                  <a:lnTo>
                    <a:pt x="21712682" y="602615"/>
                  </a:lnTo>
                  <a:lnTo>
                    <a:pt x="0" y="602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14285" y="4910880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361284" y="4910880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8.34%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01763" y="5248275"/>
            <a:ext cx="16284473" cy="451990"/>
            <a:chOff x="0" y="0"/>
            <a:chExt cx="21712631" cy="60265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1712682" cy="602615"/>
            </a:xfrm>
            <a:custGeom>
              <a:avLst/>
              <a:gdLst/>
              <a:ahLst/>
              <a:cxnLst/>
              <a:rect l="l" t="t" r="r" b="b"/>
              <a:pathLst>
                <a:path w="21712682" h="602615">
                  <a:moveTo>
                    <a:pt x="0" y="0"/>
                  </a:moveTo>
                  <a:lnTo>
                    <a:pt x="21712682" y="0"/>
                  </a:lnTo>
                  <a:lnTo>
                    <a:pt x="21712682" y="602615"/>
                  </a:lnTo>
                  <a:lnTo>
                    <a:pt x="0" y="60261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14285" y="5362870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June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61284" y="5362870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9.05%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01763" y="5700265"/>
            <a:ext cx="16284473" cy="451990"/>
            <a:chOff x="0" y="0"/>
            <a:chExt cx="21712631" cy="60265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712682" cy="602615"/>
            </a:xfrm>
            <a:custGeom>
              <a:avLst/>
              <a:gdLst/>
              <a:ahLst/>
              <a:cxnLst/>
              <a:rect l="l" t="t" r="r" b="b"/>
              <a:pathLst>
                <a:path w="21712682" h="602615">
                  <a:moveTo>
                    <a:pt x="0" y="0"/>
                  </a:moveTo>
                  <a:lnTo>
                    <a:pt x="21712682" y="0"/>
                  </a:lnTo>
                  <a:lnTo>
                    <a:pt x="21712682" y="602615"/>
                  </a:lnTo>
                  <a:lnTo>
                    <a:pt x="0" y="602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214285" y="5814860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July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61284" y="5814860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9.06%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001763" y="6152255"/>
            <a:ext cx="16284473" cy="451990"/>
            <a:chOff x="0" y="0"/>
            <a:chExt cx="21712631" cy="60265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712682" cy="602615"/>
            </a:xfrm>
            <a:custGeom>
              <a:avLst/>
              <a:gdLst/>
              <a:ahLst/>
              <a:cxnLst/>
              <a:rect l="l" t="t" r="r" b="b"/>
              <a:pathLst>
                <a:path w="21712682" h="602615">
                  <a:moveTo>
                    <a:pt x="0" y="0"/>
                  </a:moveTo>
                  <a:lnTo>
                    <a:pt x="21712682" y="0"/>
                  </a:lnTo>
                  <a:lnTo>
                    <a:pt x="21712682" y="602615"/>
                  </a:lnTo>
                  <a:lnTo>
                    <a:pt x="0" y="60261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214285" y="6266859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August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361284" y="6266859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9.01%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001763" y="6604244"/>
            <a:ext cx="16284473" cy="451990"/>
            <a:chOff x="0" y="0"/>
            <a:chExt cx="21712631" cy="60265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1712682" cy="602615"/>
            </a:xfrm>
            <a:custGeom>
              <a:avLst/>
              <a:gdLst/>
              <a:ahLst/>
              <a:cxnLst/>
              <a:rect l="l" t="t" r="r" b="b"/>
              <a:pathLst>
                <a:path w="21712682" h="602615">
                  <a:moveTo>
                    <a:pt x="0" y="0"/>
                  </a:moveTo>
                  <a:lnTo>
                    <a:pt x="21712682" y="0"/>
                  </a:lnTo>
                  <a:lnTo>
                    <a:pt x="21712682" y="602615"/>
                  </a:lnTo>
                  <a:lnTo>
                    <a:pt x="0" y="602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214285" y="6718849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September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361284" y="6718849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8.24%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001763" y="7056234"/>
            <a:ext cx="16284473" cy="451990"/>
            <a:chOff x="0" y="0"/>
            <a:chExt cx="21712631" cy="60265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712682" cy="602615"/>
            </a:xfrm>
            <a:custGeom>
              <a:avLst/>
              <a:gdLst/>
              <a:ahLst/>
              <a:cxnLst/>
              <a:rect l="l" t="t" r="r" b="b"/>
              <a:pathLst>
                <a:path w="21712682" h="602615">
                  <a:moveTo>
                    <a:pt x="0" y="0"/>
                  </a:moveTo>
                  <a:lnTo>
                    <a:pt x="21712682" y="0"/>
                  </a:lnTo>
                  <a:lnTo>
                    <a:pt x="21712682" y="602615"/>
                  </a:lnTo>
                  <a:lnTo>
                    <a:pt x="0" y="60261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214285" y="7170839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October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361284" y="7170839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8.18%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001763" y="7508234"/>
            <a:ext cx="16284473" cy="451990"/>
            <a:chOff x="0" y="0"/>
            <a:chExt cx="21712631" cy="602653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712682" cy="602615"/>
            </a:xfrm>
            <a:custGeom>
              <a:avLst/>
              <a:gdLst/>
              <a:ahLst/>
              <a:cxnLst/>
              <a:rect l="l" t="t" r="r" b="b"/>
              <a:pathLst>
                <a:path w="21712682" h="602615">
                  <a:moveTo>
                    <a:pt x="0" y="0"/>
                  </a:moveTo>
                  <a:lnTo>
                    <a:pt x="21712682" y="0"/>
                  </a:lnTo>
                  <a:lnTo>
                    <a:pt x="21712682" y="602615"/>
                  </a:lnTo>
                  <a:lnTo>
                    <a:pt x="0" y="602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214285" y="7622829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November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361284" y="7622829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8.22%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001763" y="7960223"/>
            <a:ext cx="16284473" cy="451990"/>
            <a:chOff x="0" y="0"/>
            <a:chExt cx="21712631" cy="602653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1712682" cy="602615"/>
            </a:xfrm>
            <a:custGeom>
              <a:avLst/>
              <a:gdLst/>
              <a:ahLst/>
              <a:cxnLst/>
              <a:rect l="l" t="t" r="r" b="b"/>
              <a:pathLst>
                <a:path w="21712682" h="602615">
                  <a:moveTo>
                    <a:pt x="0" y="0"/>
                  </a:moveTo>
                  <a:lnTo>
                    <a:pt x="21712682" y="0"/>
                  </a:lnTo>
                  <a:lnTo>
                    <a:pt x="21712682" y="602615"/>
                  </a:lnTo>
                  <a:lnTo>
                    <a:pt x="0" y="602615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214285" y="8074819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December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361284" y="8074819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8.20%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1001763" y="8412213"/>
            <a:ext cx="16284473" cy="451990"/>
            <a:chOff x="0" y="0"/>
            <a:chExt cx="21712631" cy="602653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1712682" cy="602615"/>
            </a:xfrm>
            <a:custGeom>
              <a:avLst/>
              <a:gdLst/>
              <a:ahLst/>
              <a:cxnLst/>
              <a:rect l="l" t="t" r="r" b="b"/>
              <a:pathLst>
                <a:path w="21712682" h="602615">
                  <a:moveTo>
                    <a:pt x="0" y="0"/>
                  </a:moveTo>
                  <a:lnTo>
                    <a:pt x="21712682" y="0"/>
                  </a:lnTo>
                  <a:lnTo>
                    <a:pt x="21712682" y="602615"/>
                  </a:lnTo>
                  <a:lnTo>
                    <a:pt x="0" y="6026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214285" y="8526809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Grand Total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61284" y="8526809"/>
            <a:ext cx="7712421" cy="232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625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100.00%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950791"/>
            <a:ext cx="9382777" cy="82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1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Monthly Load Factor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010920"/>
            <a:ext cx="16303523" cy="36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Lowest load factor in January &amp; February (off-season)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Gradual increase from March to May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Peak period during June, July, and August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Indicates highest demand and maximum utilization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Decline starts after August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Stable performance from September to December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Shows a clear seasonal trend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Useful for planning pricing, scheduling, and capacity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87476" y="1741935"/>
            <a:ext cx="8709331" cy="82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1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Load Factor (Quarter-wise)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3653285"/>
            <a:ext cx="16313048" cy="4395197"/>
            <a:chOff x="0" y="0"/>
            <a:chExt cx="21750731" cy="58602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0782" cy="5860288"/>
            </a:xfrm>
            <a:custGeom>
              <a:avLst/>
              <a:gdLst/>
              <a:ahLst/>
              <a:cxnLst/>
              <a:rect l="l" t="t" r="r" b="b"/>
              <a:pathLst>
                <a:path w="21750782" h="5860288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21585428" y="0"/>
                  </a:lnTo>
                  <a:lnTo>
                    <a:pt x="21585428" y="6350"/>
                  </a:lnTo>
                  <a:lnTo>
                    <a:pt x="21585428" y="0"/>
                  </a:lnTo>
                  <a:cubicBezTo>
                    <a:pt x="21676742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5695188"/>
                  </a:lnTo>
                  <a:lnTo>
                    <a:pt x="21744432" y="5695188"/>
                  </a:lnTo>
                  <a:lnTo>
                    <a:pt x="21750782" y="5695188"/>
                  </a:lnTo>
                  <a:cubicBezTo>
                    <a:pt x="21750782" y="5786374"/>
                    <a:pt x="21676742" y="5860288"/>
                    <a:pt x="21585428" y="5860288"/>
                  </a:cubicBezTo>
                  <a:lnTo>
                    <a:pt x="21585428" y="5853938"/>
                  </a:lnTo>
                  <a:lnTo>
                    <a:pt x="21585428" y="5860288"/>
                  </a:lnTo>
                  <a:lnTo>
                    <a:pt x="165354" y="5860288"/>
                  </a:lnTo>
                  <a:lnTo>
                    <a:pt x="165354" y="5853938"/>
                  </a:lnTo>
                  <a:lnTo>
                    <a:pt x="165354" y="5860288"/>
                  </a:lnTo>
                  <a:cubicBezTo>
                    <a:pt x="74041" y="5860288"/>
                    <a:pt x="0" y="5786374"/>
                    <a:pt x="0" y="569518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695188"/>
                  </a:lnTo>
                  <a:lnTo>
                    <a:pt x="6350" y="5695188"/>
                  </a:lnTo>
                  <a:lnTo>
                    <a:pt x="12700" y="5695188"/>
                  </a:lnTo>
                  <a:cubicBezTo>
                    <a:pt x="12700" y="5779389"/>
                    <a:pt x="81026" y="5847588"/>
                    <a:pt x="165354" y="5847588"/>
                  </a:cubicBezTo>
                  <a:lnTo>
                    <a:pt x="21585428" y="5847588"/>
                  </a:lnTo>
                  <a:cubicBezTo>
                    <a:pt x="21669756" y="5847588"/>
                    <a:pt x="21738082" y="5779389"/>
                    <a:pt x="21738082" y="5695188"/>
                  </a:cubicBezTo>
                  <a:lnTo>
                    <a:pt x="21738082" y="165100"/>
                  </a:lnTo>
                  <a:cubicBezTo>
                    <a:pt x="21738082" y="80899"/>
                    <a:pt x="21669756" y="12700"/>
                    <a:pt x="21585428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1763" y="3667573"/>
            <a:ext cx="16284473" cy="727767"/>
            <a:chOff x="0" y="0"/>
            <a:chExt cx="21712631" cy="9703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85284" y="3828155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Row Labels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32284" y="3828155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Sum of Load Factor %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01763" y="4395340"/>
            <a:ext cx="16284473" cy="727767"/>
            <a:chOff x="0" y="0"/>
            <a:chExt cx="21712631" cy="9703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85284" y="4555922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Q1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32284" y="4555922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23.41%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01763" y="5123107"/>
            <a:ext cx="16284473" cy="727767"/>
            <a:chOff x="0" y="0"/>
            <a:chExt cx="21712631" cy="9703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85284" y="5283698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Q2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32284" y="5283698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25.68%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1763" y="5850884"/>
            <a:ext cx="16284473" cy="727767"/>
            <a:chOff x="0" y="0"/>
            <a:chExt cx="21712631" cy="97035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85284" y="6011466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Q3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32284" y="6011466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26.31%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01763" y="6578651"/>
            <a:ext cx="16284473" cy="727767"/>
            <a:chOff x="0" y="0"/>
            <a:chExt cx="21712631" cy="97035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85284" y="6739233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Q4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32284" y="6739233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24.60%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01763" y="7306418"/>
            <a:ext cx="16284473" cy="727767"/>
            <a:chOff x="0" y="0"/>
            <a:chExt cx="21712631" cy="97035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85284" y="7467009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Grand Total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32284" y="7467009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100.00%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950791"/>
            <a:ext cx="10500755" cy="82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1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Quarter-wise Load Factor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010920"/>
            <a:ext cx="16303523" cy="36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Q1 has the lowest performance (slow start of the year)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Steady growth observed from Q1 to Q3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Q3 is the highest-performing quarter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Indicates mid-year peak business period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Slight decline in Q4 after peak season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Q4 still performs better than Q1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Shows a cyclical/seasonal trend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Useful for resource allocation and planning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487986"/>
            <a:ext cx="8151762" cy="82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1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Carrier-wise Load Factor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2931319"/>
            <a:ext cx="16303523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Carrier-wise Load Factor Performance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7476" y="3633045"/>
            <a:ext cx="16313048" cy="5122964"/>
            <a:chOff x="0" y="0"/>
            <a:chExt cx="21750731" cy="68306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50782" cy="6830568"/>
            </a:xfrm>
            <a:custGeom>
              <a:avLst/>
              <a:gdLst/>
              <a:ahLst/>
              <a:cxnLst/>
              <a:rect l="l" t="t" r="r" b="b"/>
              <a:pathLst>
                <a:path w="21750782" h="6830568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21585428" y="0"/>
                  </a:lnTo>
                  <a:lnTo>
                    <a:pt x="21585428" y="6350"/>
                  </a:lnTo>
                  <a:lnTo>
                    <a:pt x="21585428" y="0"/>
                  </a:lnTo>
                  <a:cubicBezTo>
                    <a:pt x="21676742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6665468"/>
                  </a:lnTo>
                  <a:lnTo>
                    <a:pt x="21744432" y="6665468"/>
                  </a:lnTo>
                  <a:lnTo>
                    <a:pt x="21750782" y="6665468"/>
                  </a:lnTo>
                  <a:cubicBezTo>
                    <a:pt x="21750782" y="6756654"/>
                    <a:pt x="21676742" y="6830568"/>
                    <a:pt x="21585428" y="6830568"/>
                  </a:cubicBezTo>
                  <a:lnTo>
                    <a:pt x="21585428" y="6824218"/>
                  </a:lnTo>
                  <a:lnTo>
                    <a:pt x="21585428" y="6830568"/>
                  </a:lnTo>
                  <a:lnTo>
                    <a:pt x="165354" y="6830568"/>
                  </a:lnTo>
                  <a:lnTo>
                    <a:pt x="165354" y="6824218"/>
                  </a:lnTo>
                  <a:lnTo>
                    <a:pt x="165354" y="6830568"/>
                  </a:lnTo>
                  <a:cubicBezTo>
                    <a:pt x="74041" y="6830568"/>
                    <a:pt x="0" y="6756654"/>
                    <a:pt x="0" y="666546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665468"/>
                  </a:lnTo>
                  <a:lnTo>
                    <a:pt x="6350" y="6665468"/>
                  </a:lnTo>
                  <a:lnTo>
                    <a:pt x="12700" y="6665468"/>
                  </a:lnTo>
                  <a:cubicBezTo>
                    <a:pt x="12700" y="6749669"/>
                    <a:pt x="81026" y="6817868"/>
                    <a:pt x="165354" y="6817868"/>
                  </a:cubicBezTo>
                  <a:lnTo>
                    <a:pt x="21585428" y="6817868"/>
                  </a:lnTo>
                  <a:cubicBezTo>
                    <a:pt x="21669756" y="6817868"/>
                    <a:pt x="21738082" y="6749669"/>
                    <a:pt x="21738082" y="6665468"/>
                  </a:cubicBezTo>
                  <a:lnTo>
                    <a:pt x="21738082" y="165100"/>
                  </a:lnTo>
                  <a:cubicBezTo>
                    <a:pt x="21738082" y="80899"/>
                    <a:pt x="21669756" y="12700"/>
                    <a:pt x="21585428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1763" y="3647332"/>
            <a:ext cx="16284473" cy="727767"/>
            <a:chOff x="0" y="0"/>
            <a:chExt cx="21712631" cy="97035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85284" y="3807914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Row Labels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32284" y="3807914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Sum of Load Factor %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01763" y="4375099"/>
            <a:ext cx="16284473" cy="727767"/>
            <a:chOff x="0" y="0"/>
            <a:chExt cx="21712631" cy="9703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85284" y="4535691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Continental Air Lines Inc.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32284" y="4535691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16.30%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01763" y="5102866"/>
            <a:ext cx="16284473" cy="727767"/>
            <a:chOff x="0" y="0"/>
            <a:chExt cx="21712631" cy="9703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85284" y="5263458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Delta Air Lines Inc.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432284" y="5263458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27.87%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01763" y="5830643"/>
            <a:ext cx="16284473" cy="727767"/>
            <a:chOff x="0" y="0"/>
            <a:chExt cx="21712631" cy="9703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85284" y="5991225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Skywest Airlines Inc.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32284" y="5991225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13.80%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01763" y="6558410"/>
            <a:ext cx="16284473" cy="727767"/>
            <a:chOff x="0" y="0"/>
            <a:chExt cx="21712631" cy="97035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85284" y="6718992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Southwest Airlines Co.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32284" y="6718992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26.90%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01763" y="7286177"/>
            <a:ext cx="16284473" cy="727767"/>
            <a:chOff x="0" y="0"/>
            <a:chExt cx="21712631" cy="97035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85284" y="7446759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Us Airways Inc.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432284" y="7446759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15.13%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01763" y="8013944"/>
            <a:ext cx="16284473" cy="727767"/>
            <a:chOff x="0" y="0"/>
            <a:chExt cx="21712631" cy="97035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285284" y="8174536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Grand Total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432284" y="8174536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100.00%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686454"/>
            <a:ext cx="10539179" cy="82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1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Carrier-wise Load Factor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303537"/>
            <a:ext cx="16303523" cy="36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Delta Airlines has the highest load factor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Indicates strong demand and high efficiency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Southwest Airlines is a close competitor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Continental &amp; US Airways show average performance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SkyWest Airlines has the lowest load factor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Clear gap between top and bottom performers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Differences may be due to routes, pricing, or service quality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Top carriers can be used as benchmarks for improvement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935536"/>
            <a:ext cx="6521206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1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Top Routes by Flights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2397919"/>
            <a:ext cx="11553977" cy="6905777"/>
            <a:chOff x="0" y="0"/>
            <a:chExt cx="15405303" cy="9207703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5405354" cy="9207754"/>
            </a:xfrm>
            <a:custGeom>
              <a:avLst/>
              <a:gdLst/>
              <a:ahLst/>
              <a:cxnLst/>
              <a:rect l="l" t="t" r="r" b="b"/>
              <a:pathLst>
                <a:path w="15405354" h="9207754">
                  <a:moveTo>
                    <a:pt x="0" y="0"/>
                  </a:moveTo>
                  <a:lnTo>
                    <a:pt x="15405354" y="0"/>
                  </a:lnTo>
                  <a:lnTo>
                    <a:pt x="15405354" y="9207754"/>
                  </a:lnTo>
                  <a:lnTo>
                    <a:pt x="0" y="9207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466173"/>
            <a:ext cx="6521206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1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Top Routes by Flights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303537"/>
            <a:ext cx="16303523" cy="36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New York acts as a major hub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Atlanta–New York is the most frequent route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Strong connectivity with Boston and Washington routes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 traffic in both directions (two-way demand)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Regional routes (Hawaii inter-island) show steady demand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Busy short routes like LA–San Francisco and Seattle–Portland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Most routes are short to medium distance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Network focuses on high-demand and hub-based connectivity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87476" y="1920734"/>
            <a:ext cx="9791469" cy="82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1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Weekend vs Weekday Analysis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4017169"/>
            <a:ext cx="16313048" cy="3667420"/>
            <a:chOff x="0" y="0"/>
            <a:chExt cx="21750731" cy="48898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0782" cy="4889881"/>
            </a:xfrm>
            <a:custGeom>
              <a:avLst/>
              <a:gdLst/>
              <a:ahLst/>
              <a:cxnLst/>
              <a:rect l="l" t="t" r="r" b="b"/>
              <a:pathLst>
                <a:path w="21750782" h="4889881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21585301" y="0"/>
                  </a:lnTo>
                  <a:lnTo>
                    <a:pt x="21585301" y="6350"/>
                  </a:lnTo>
                  <a:lnTo>
                    <a:pt x="21585301" y="0"/>
                  </a:lnTo>
                  <a:cubicBezTo>
                    <a:pt x="21676613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4724781"/>
                  </a:lnTo>
                  <a:lnTo>
                    <a:pt x="21744432" y="4724781"/>
                  </a:lnTo>
                  <a:lnTo>
                    <a:pt x="21750782" y="4724781"/>
                  </a:lnTo>
                  <a:cubicBezTo>
                    <a:pt x="21750782" y="4815967"/>
                    <a:pt x="21676740" y="4889881"/>
                    <a:pt x="21585301" y="4889881"/>
                  </a:cubicBezTo>
                  <a:lnTo>
                    <a:pt x="21585301" y="4883531"/>
                  </a:lnTo>
                  <a:lnTo>
                    <a:pt x="21585301" y="4889881"/>
                  </a:lnTo>
                  <a:lnTo>
                    <a:pt x="165481" y="4889881"/>
                  </a:lnTo>
                  <a:lnTo>
                    <a:pt x="165481" y="4883531"/>
                  </a:lnTo>
                  <a:lnTo>
                    <a:pt x="165481" y="4889881"/>
                  </a:lnTo>
                  <a:cubicBezTo>
                    <a:pt x="74168" y="4889881"/>
                    <a:pt x="0" y="4815967"/>
                    <a:pt x="0" y="47247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724781"/>
                  </a:lnTo>
                  <a:lnTo>
                    <a:pt x="6350" y="4724781"/>
                  </a:lnTo>
                  <a:lnTo>
                    <a:pt x="12700" y="4724781"/>
                  </a:lnTo>
                  <a:cubicBezTo>
                    <a:pt x="12700" y="4808982"/>
                    <a:pt x="81026" y="4877181"/>
                    <a:pt x="165481" y="4877181"/>
                  </a:cubicBezTo>
                  <a:lnTo>
                    <a:pt x="21585301" y="4877181"/>
                  </a:lnTo>
                  <a:cubicBezTo>
                    <a:pt x="21669629" y="4877181"/>
                    <a:pt x="21738082" y="4808855"/>
                    <a:pt x="21738082" y="4724781"/>
                  </a:cubicBezTo>
                  <a:lnTo>
                    <a:pt x="21738082" y="165100"/>
                  </a:lnTo>
                  <a:cubicBezTo>
                    <a:pt x="21738082" y="80899"/>
                    <a:pt x="21669756" y="12700"/>
                    <a:pt x="21585301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1026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1763" y="4031456"/>
            <a:ext cx="16284473" cy="727767"/>
            <a:chOff x="0" y="0"/>
            <a:chExt cx="21712631" cy="9703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85284" y="4192038"/>
            <a:ext cx="15717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Load Factor : Weekend vs Weekday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01763" y="4759223"/>
            <a:ext cx="16284473" cy="727767"/>
            <a:chOff x="0" y="0"/>
            <a:chExt cx="21712631" cy="9703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85284" y="4919815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Row Labels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32284" y="4919815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Sum of Load Factor %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01763" y="5486991"/>
            <a:ext cx="16284473" cy="727767"/>
            <a:chOff x="0" y="0"/>
            <a:chExt cx="21712631" cy="9703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85284" y="5647582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Weekday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32284" y="5647582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71.17%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01763" y="6214767"/>
            <a:ext cx="16284473" cy="727767"/>
            <a:chOff x="0" y="0"/>
            <a:chExt cx="21712631" cy="9703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85284" y="6375349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Weekend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32284" y="6375349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28.83%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01763" y="6942534"/>
            <a:ext cx="16284473" cy="727767"/>
            <a:chOff x="0" y="0"/>
            <a:chExt cx="21712631" cy="9703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285284" y="7103116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Grand Total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32284" y="7103116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100.00%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245892"/>
            <a:ext cx="9901610" cy="82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1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Weekend vs Weekday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774862"/>
            <a:ext cx="16303523" cy="36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Weekdays contribute 71.17% of total flights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Weekends contribute only 28.83%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Indicates strong dependence on weekdays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Majority passengers are business travelers or commuters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Significant gap between weekday and weekend demand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Airlines can improve weekend demand through offers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Operations aligned with business schedules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Overall shows strong weekday dominance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01763" y="1387778"/>
            <a:ext cx="9401918" cy="112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2"/>
              </a:lnSpc>
            </a:pPr>
            <a:r>
              <a:rPr lang="en-US" sz="637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Flights by Distance Group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3759251"/>
            <a:ext cx="16313048" cy="4395197"/>
            <a:chOff x="0" y="0"/>
            <a:chExt cx="21750731" cy="58602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0782" cy="5860288"/>
            </a:xfrm>
            <a:custGeom>
              <a:avLst/>
              <a:gdLst/>
              <a:ahLst/>
              <a:cxnLst/>
              <a:rect l="l" t="t" r="r" b="b"/>
              <a:pathLst>
                <a:path w="21750782" h="5860288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21585428" y="0"/>
                  </a:lnTo>
                  <a:lnTo>
                    <a:pt x="21585428" y="6350"/>
                  </a:lnTo>
                  <a:lnTo>
                    <a:pt x="21585428" y="0"/>
                  </a:lnTo>
                  <a:cubicBezTo>
                    <a:pt x="21676742" y="0"/>
                    <a:pt x="21750782" y="73914"/>
                    <a:pt x="21750782" y="165100"/>
                  </a:cubicBezTo>
                  <a:lnTo>
                    <a:pt x="21744432" y="165100"/>
                  </a:lnTo>
                  <a:lnTo>
                    <a:pt x="21750782" y="165100"/>
                  </a:lnTo>
                  <a:lnTo>
                    <a:pt x="21750782" y="5695188"/>
                  </a:lnTo>
                  <a:lnTo>
                    <a:pt x="21744432" y="5695188"/>
                  </a:lnTo>
                  <a:lnTo>
                    <a:pt x="21750782" y="5695188"/>
                  </a:lnTo>
                  <a:cubicBezTo>
                    <a:pt x="21750782" y="5786374"/>
                    <a:pt x="21676742" y="5860288"/>
                    <a:pt x="21585428" y="5860288"/>
                  </a:cubicBezTo>
                  <a:lnTo>
                    <a:pt x="21585428" y="5853938"/>
                  </a:lnTo>
                  <a:lnTo>
                    <a:pt x="21585428" y="5860288"/>
                  </a:lnTo>
                  <a:lnTo>
                    <a:pt x="165354" y="5860288"/>
                  </a:lnTo>
                  <a:lnTo>
                    <a:pt x="165354" y="5853938"/>
                  </a:lnTo>
                  <a:lnTo>
                    <a:pt x="165354" y="5860288"/>
                  </a:lnTo>
                  <a:cubicBezTo>
                    <a:pt x="74041" y="5860288"/>
                    <a:pt x="0" y="5786374"/>
                    <a:pt x="0" y="5695188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695188"/>
                  </a:lnTo>
                  <a:lnTo>
                    <a:pt x="6350" y="5695188"/>
                  </a:lnTo>
                  <a:lnTo>
                    <a:pt x="12700" y="5695188"/>
                  </a:lnTo>
                  <a:cubicBezTo>
                    <a:pt x="12700" y="5779389"/>
                    <a:pt x="81026" y="5847588"/>
                    <a:pt x="165354" y="5847588"/>
                  </a:cubicBezTo>
                  <a:lnTo>
                    <a:pt x="21585428" y="5847588"/>
                  </a:lnTo>
                  <a:cubicBezTo>
                    <a:pt x="21669756" y="5847588"/>
                    <a:pt x="21738082" y="5779389"/>
                    <a:pt x="21738082" y="5695188"/>
                  </a:cubicBezTo>
                  <a:lnTo>
                    <a:pt x="21738082" y="165100"/>
                  </a:lnTo>
                  <a:cubicBezTo>
                    <a:pt x="21738082" y="80899"/>
                    <a:pt x="21669756" y="12700"/>
                    <a:pt x="21585428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1763" y="3773538"/>
            <a:ext cx="16284473" cy="727767"/>
            <a:chOff x="0" y="0"/>
            <a:chExt cx="21712631" cy="9703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85284" y="3934120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Flights Distribution by Distance Group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32284" y="3934120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Count of %Distance Group ID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01763" y="4501305"/>
            <a:ext cx="16284473" cy="727767"/>
            <a:chOff x="0" y="0"/>
            <a:chExt cx="21712631" cy="9703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85284" y="4661897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0-500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32284" y="4661897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58199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01763" y="5229073"/>
            <a:ext cx="16284473" cy="727767"/>
            <a:chOff x="0" y="0"/>
            <a:chExt cx="21712631" cy="9703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85284" y="5389664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1001-1500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32284" y="5389664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11335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1763" y="5956849"/>
            <a:ext cx="16284473" cy="727767"/>
            <a:chOff x="0" y="0"/>
            <a:chExt cx="21712631" cy="97035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85284" y="6117431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1500+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32284" y="6117431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13334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01763" y="6684616"/>
            <a:ext cx="16284473" cy="727767"/>
            <a:chOff x="0" y="0"/>
            <a:chExt cx="21712631" cy="97035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85284" y="6845198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501-1000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32284" y="6845198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27980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01763" y="7412384"/>
            <a:ext cx="16284473" cy="727767"/>
            <a:chOff x="0" y="0"/>
            <a:chExt cx="21712631" cy="97035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712682" cy="970407"/>
            </a:xfrm>
            <a:custGeom>
              <a:avLst/>
              <a:gdLst/>
              <a:ahLst/>
              <a:cxnLst/>
              <a:rect l="l" t="t" r="r" b="b"/>
              <a:pathLst>
                <a:path w="21712682" h="970407">
                  <a:moveTo>
                    <a:pt x="0" y="0"/>
                  </a:moveTo>
                  <a:lnTo>
                    <a:pt x="21712682" y="0"/>
                  </a:lnTo>
                  <a:lnTo>
                    <a:pt x="21712682" y="970407"/>
                  </a:lnTo>
                  <a:lnTo>
                    <a:pt x="0" y="97040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85284" y="7572966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Grand Total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32284" y="7572966"/>
            <a:ext cx="7570441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110848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554286"/>
            <a:ext cx="752057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1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Flights by Distance Group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041684"/>
            <a:ext cx="16303523" cy="366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Majority of flights are in 0–500 km range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Indicates high demand for short-distance travel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501–1000 km range also shows strong activity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1000–1500 km has the lowest number of flights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Long-distance (1500+ km) flights are less frequent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Focus is mainly on short-haul operations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Opportunity to expand long-distance routes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Overall shows a volume-driven short-distance strategy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646083"/>
            <a:ext cx="9081935" cy="112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2"/>
              </a:lnSpc>
            </a:pPr>
            <a:r>
              <a:rPr lang="en-US" sz="637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FINAL OVERALL INSIGHT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342425"/>
            <a:ext cx="16303523" cy="179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data shows steady growth and stable performance over time.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There is a clear seasonal and quarterly pattern, with mid-year peak.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Weekdays and short-distance routes dominate, indicating business-driven demand.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few airlines and routes contribute majorly to performance, showing concentration.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insights can help in better planning, optimization, and decision-making.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88666" y="711098"/>
            <a:ext cx="8121406" cy="112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2"/>
              </a:lnSpc>
            </a:pPr>
            <a:r>
              <a:rPr lang="en-US" sz="637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DASHBOARDS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8666" y="2377383"/>
            <a:ext cx="16310667" cy="385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EXCEL DASHBOARD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88666" y="3079404"/>
            <a:ext cx="15360253" cy="6429823"/>
            <a:chOff x="0" y="0"/>
            <a:chExt cx="20480338" cy="8573097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0480401" cy="8573135"/>
            </a:xfrm>
            <a:custGeom>
              <a:avLst/>
              <a:gdLst/>
              <a:ahLst/>
              <a:cxnLst/>
              <a:rect l="l" t="t" r="r" b="b"/>
              <a:pathLst>
                <a:path w="20480401" h="8573135">
                  <a:moveTo>
                    <a:pt x="0" y="0"/>
                  </a:moveTo>
                  <a:lnTo>
                    <a:pt x="20480401" y="0"/>
                  </a:lnTo>
                  <a:lnTo>
                    <a:pt x="20480401" y="8573135"/>
                  </a:lnTo>
                  <a:lnTo>
                    <a:pt x="0" y="8573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" r="-1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199255"/>
            <a:ext cx="16303523" cy="360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062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DASHBOARD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1847555"/>
            <a:ext cx="14511633" cy="7451379"/>
            <a:chOff x="0" y="0"/>
            <a:chExt cx="19348844" cy="9935172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9348831" cy="9935210"/>
            </a:xfrm>
            <a:custGeom>
              <a:avLst/>
              <a:gdLst/>
              <a:ahLst/>
              <a:cxnLst/>
              <a:rect l="l" t="t" r="r" b="b"/>
              <a:pathLst>
                <a:path w="19348831" h="9935210">
                  <a:moveTo>
                    <a:pt x="0" y="0"/>
                  </a:moveTo>
                  <a:lnTo>
                    <a:pt x="19348831" y="0"/>
                  </a:lnTo>
                  <a:lnTo>
                    <a:pt x="19348831" y="9935210"/>
                  </a:lnTo>
                  <a:lnTo>
                    <a:pt x="0" y="9935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4" r="-3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442447"/>
            <a:ext cx="14690522" cy="7402116"/>
            <a:chOff x="0" y="0"/>
            <a:chExt cx="19587362" cy="9869488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9587338" cy="9869551"/>
            </a:xfrm>
            <a:custGeom>
              <a:avLst/>
              <a:gdLst/>
              <a:ahLst/>
              <a:cxnLst/>
              <a:rect l="l" t="t" r="r" b="b"/>
              <a:pathLst>
                <a:path w="19587338" h="9869551">
                  <a:moveTo>
                    <a:pt x="0" y="0"/>
                  </a:moveTo>
                  <a:lnTo>
                    <a:pt x="19587338" y="0"/>
                  </a:lnTo>
                  <a:lnTo>
                    <a:pt x="19587338" y="9869551"/>
                  </a:lnTo>
                  <a:lnTo>
                    <a:pt x="0" y="9869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529953"/>
            <a:ext cx="16303523" cy="387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TABLEAU DASHBOARD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2236441"/>
            <a:ext cx="15151303" cy="6756644"/>
            <a:chOff x="0" y="0"/>
            <a:chExt cx="20201738" cy="9008859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20201762" cy="9008872"/>
            </a:xfrm>
            <a:custGeom>
              <a:avLst/>
              <a:gdLst/>
              <a:ahLst/>
              <a:cxnLst/>
              <a:rect l="l" t="t" r="r" b="b"/>
              <a:pathLst>
                <a:path w="20201762" h="9008872">
                  <a:moveTo>
                    <a:pt x="0" y="0"/>
                  </a:moveTo>
                  <a:lnTo>
                    <a:pt x="20201762" y="0"/>
                  </a:lnTo>
                  <a:lnTo>
                    <a:pt x="20201762" y="9008872"/>
                  </a:lnTo>
                  <a:lnTo>
                    <a:pt x="0" y="90088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5" r="-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212952"/>
            <a:ext cx="16303523" cy="7173516"/>
            <a:chOff x="0" y="0"/>
            <a:chExt cx="21738031" cy="9564688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1738082" cy="9564751"/>
            </a:xfrm>
            <a:custGeom>
              <a:avLst/>
              <a:gdLst/>
              <a:ahLst/>
              <a:cxnLst/>
              <a:rect l="l" t="t" r="r" b="b"/>
              <a:pathLst>
                <a:path w="21738082" h="9564751">
                  <a:moveTo>
                    <a:pt x="0" y="0"/>
                  </a:moveTo>
                  <a:lnTo>
                    <a:pt x="21738082" y="0"/>
                  </a:lnTo>
                  <a:lnTo>
                    <a:pt x="21738082" y="9564751"/>
                  </a:lnTo>
                  <a:lnTo>
                    <a:pt x="0" y="9564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8" r="-1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DE345DC-7BCE-A24C-AF7C-E7E9BF35B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847850"/>
            <a:ext cx="15240000" cy="6591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784622"/>
            <a:ext cx="6521206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5"/>
              </a:lnSpc>
            </a:pPr>
            <a:r>
              <a:rPr lang="en-US" sz="5125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MySQL QUERIES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2042817"/>
            <a:ext cx="9753600" cy="7411936"/>
            <a:chOff x="0" y="0"/>
            <a:chExt cx="13004800" cy="9882581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3004800" cy="9882632"/>
            </a:xfrm>
            <a:custGeom>
              <a:avLst/>
              <a:gdLst/>
              <a:ahLst/>
              <a:cxnLst/>
              <a:rect l="l" t="t" r="r" b="b"/>
              <a:pathLst>
                <a:path w="13004800" h="9882632">
                  <a:moveTo>
                    <a:pt x="0" y="0"/>
                  </a:moveTo>
                  <a:lnTo>
                    <a:pt x="13004800" y="0"/>
                  </a:lnTo>
                  <a:lnTo>
                    <a:pt x="13004800" y="9882632"/>
                  </a:lnTo>
                  <a:lnTo>
                    <a:pt x="0" y="9882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" r="-1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92238" y="1404347"/>
            <a:ext cx="16303523" cy="7478316"/>
            <a:chOff x="0" y="0"/>
            <a:chExt cx="21738031" cy="99710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738082" cy="9971151"/>
            </a:xfrm>
            <a:custGeom>
              <a:avLst/>
              <a:gdLst/>
              <a:ahLst/>
              <a:cxnLst/>
              <a:rect l="l" t="t" r="r" b="b"/>
              <a:pathLst>
                <a:path w="21738082" h="9971151">
                  <a:moveTo>
                    <a:pt x="0" y="103251"/>
                  </a:moveTo>
                  <a:cubicBezTo>
                    <a:pt x="0" y="46228"/>
                    <a:pt x="46228" y="0"/>
                    <a:pt x="103251" y="0"/>
                  </a:cubicBezTo>
                  <a:lnTo>
                    <a:pt x="21634831" y="0"/>
                  </a:lnTo>
                  <a:cubicBezTo>
                    <a:pt x="21691854" y="0"/>
                    <a:pt x="21738082" y="46228"/>
                    <a:pt x="21738082" y="103251"/>
                  </a:cubicBezTo>
                  <a:lnTo>
                    <a:pt x="21738082" y="9867900"/>
                  </a:lnTo>
                  <a:cubicBezTo>
                    <a:pt x="21738082" y="9924923"/>
                    <a:pt x="21691854" y="9971151"/>
                    <a:pt x="21634831" y="9971151"/>
                  </a:cubicBezTo>
                  <a:lnTo>
                    <a:pt x="103251" y="9971151"/>
                  </a:lnTo>
                  <a:cubicBezTo>
                    <a:pt x="46228" y="9971024"/>
                    <a:pt x="0" y="9924923"/>
                    <a:pt x="0" y="9867900"/>
                  </a:cubicBezTo>
                  <a:close/>
                </a:path>
              </a:pathLst>
            </a:custGeom>
            <a:solidFill>
              <a:srgbClr val="F2F2E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3161" y="1404347"/>
            <a:ext cx="16321678" cy="7478316"/>
            <a:chOff x="0" y="0"/>
            <a:chExt cx="21762237" cy="99710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62213" cy="9971024"/>
            </a:xfrm>
            <a:custGeom>
              <a:avLst/>
              <a:gdLst/>
              <a:ahLst/>
              <a:cxnLst/>
              <a:rect l="l" t="t" r="r" b="b"/>
              <a:pathLst>
                <a:path w="21762213" h="9971024">
                  <a:moveTo>
                    <a:pt x="0" y="36830"/>
                  </a:moveTo>
                  <a:cubicBezTo>
                    <a:pt x="0" y="16510"/>
                    <a:pt x="16510" y="0"/>
                    <a:pt x="36830" y="0"/>
                  </a:cubicBezTo>
                  <a:lnTo>
                    <a:pt x="21725382" y="0"/>
                  </a:lnTo>
                  <a:cubicBezTo>
                    <a:pt x="21745702" y="0"/>
                    <a:pt x="21762213" y="16510"/>
                    <a:pt x="21762213" y="36830"/>
                  </a:cubicBezTo>
                  <a:lnTo>
                    <a:pt x="21762213" y="9934194"/>
                  </a:lnTo>
                  <a:cubicBezTo>
                    <a:pt x="21762213" y="9954513"/>
                    <a:pt x="21745702" y="9971024"/>
                    <a:pt x="21725382" y="9971024"/>
                  </a:cubicBezTo>
                  <a:lnTo>
                    <a:pt x="36830" y="9971024"/>
                  </a:lnTo>
                  <a:cubicBezTo>
                    <a:pt x="16510" y="9971024"/>
                    <a:pt x="0" y="9954513"/>
                    <a:pt x="0" y="9934194"/>
                  </a:cubicBezTo>
                  <a:close/>
                </a:path>
              </a:pathLst>
            </a:custGeom>
            <a:solidFill>
              <a:srgbClr val="F2F2E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13399" y="1579064"/>
            <a:ext cx="15861211" cy="7119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32 select quater,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33 concat(round(load_factor/sum(load_factor) over() *100,2),'%') as load_factor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34 from(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35 select quater,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36 ifnull(sum(transported_passengers/available_seats),0) as load_factor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37 from airlinesql group by quater) as t;</a:t>
            </a:r>
          </a:p>
          <a:p>
            <a:pPr algn="l">
              <a:lnSpc>
                <a:spcPts val="1499"/>
              </a:lnSpc>
            </a:pPr>
            <a:endParaRPr lang="en-US" sz="1437">
              <a:solidFill>
                <a:srgbClr val="005CC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39 -- loadfactor by weekname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40 select weekname,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41 concat(round(load_factor/sum(load_factor) over() *100,2),'%') as load_factor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42 from(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43 select weekname,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44 ifnull(sum(transported_passengers/available_seats),0) as load_factor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45 from airlinesql group by weekname) as t;</a:t>
            </a:r>
          </a:p>
          <a:p>
            <a:pPr algn="l">
              <a:lnSpc>
                <a:spcPts val="1499"/>
              </a:lnSpc>
            </a:pPr>
            <a:endParaRPr lang="en-US" sz="1437">
              <a:solidFill>
                <a:srgbClr val="005CC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47 -- loadfactor by carrier name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48 select carrier_name,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49 concat(round(load_factor/sum(load_factor) over() *100,2),'%') as load_factor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50 from(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51 select carrier_name,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52 ifnull(sum(transported_passengers/available_seats),0) as load_factor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53 from airlinesql group by carrier_name order by load_factor desc limit 5) as t;</a:t>
            </a:r>
          </a:p>
          <a:p>
            <a:pPr algn="l">
              <a:lnSpc>
                <a:spcPts val="1499"/>
              </a:lnSpc>
            </a:pPr>
            <a:endParaRPr lang="en-US" sz="1437">
              <a:solidFill>
                <a:srgbClr val="005CC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55 -- carrier wise passenger preference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56 select carrier_name ,concat(round(sum(transported_passengers)/1000000,2),'M') as total_passengers from airlinesql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57 group by carrier_name with rollup order by sum(transported_passengers) desc limit 10;</a:t>
            </a:r>
          </a:p>
          <a:p>
            <a:pPr algn="l">
              <a:lnSpc>
                <a:spcPts val="1499"/>
              </a:lnSpc>
            </a:pPr>
            <a:endParaRPr lang="en-US" sz="1437">
              <a:solidFill>
                <a:srgbClr val="005CC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59 -- distance group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60 select `Distance Interval` ,concat(round(sum(departure_performed)/1000000,2),'M') as number_of_flights from airlinesql as a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61 join `distance groups` as d on d.`Distance Group ID`=a.`Distance_id` group by `Distance Interval`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62 order by count(`Distance_id`) desc;</a:t>
            </a:r>
          </a:p>
          <a:p>
            <a:pPr algn="l">
              <a:lnSpc>
                <a:spcPts val="1499"/>
              </a:lnSpc>
            </a:pPr>
            <a:endParaRPr lang="en-US" sz="1437">
              <a:solidFill>
                <a:srgbClr val="005CC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64 -- top 10 routes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65 select `from_to_city` , concat(round(sum(departure_performed)/1000,2),'K') as total_flights from airlinesql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66 group by `from_to_city` order by sum(departure_performed) desc limit 10;</a:t>
            </a:r>
          </a:p>
          <a:p>
            <a:pPr algn="l">
              <a:lnSpc>
                <a:spcPts val="1499"/>
              </a:lnSpc>
            </a:pPr>
            <a:r>
              <a:rPr lang="en-US" sz="1437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2238" y="1280137"/>
            <a:ext cx="11675859" cy="112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2"/>
              </a:lnSpc>
            </a:pPr>
            <a:r>
              <a:rPr lang="en-US" sz="637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Conclusion &amp; Recommendation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086057"/>
            <a:ext cx="4075805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3187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Conclusion: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006559"/>
            <a:ext cx="16303523" cy="3193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Successfully transformed raw data into meaningful insights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Observed steady growth and clear seasonal trends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Peak performance occurs during mid-year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Weekdays and short-distance routes dominate demand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Identified high-performing and underperforming areas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Supports better decision-making and operational efficiency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Highlights importance of data-driven strategies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583123"/>
            <a:ext cx="4075805" cy="558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4"/>
              </a:lnSpc>
            </a:pPr>
            <a:r>
              <a:rPr lang="en-US" sz="3187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Recommendation: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755593"/>
            <a:ext cx="16303523" cy="272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Increase capacity during peak months (June–August)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Improve low-performing routes and carriers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Introduce offers and discounts on weekends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Expand long-distance routes for higher profitability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Use data insights for better planning and pricing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Optimize scheduling based on demand patterns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324160"/>
            <a:ext cx="14633372" cy="112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12"/>
              </a:lnSpc>
            </a:pPr>
            <a:r>
              <a:rPr lang="en-US" sz="637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Challenges &amp; How We Overcame Them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174699"/>
            <a:ext cx="16303523" cy="272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Cleaning:</a:t>
            </a: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Faced missing and inconsistent data → resolved using preprocessing techniques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Large Dataset Handling:</a:t>
            </a: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Managing large data was time-consuming → improved using Excel &amp; MySQL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 Query Complexity:</a:t>
            </a: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Difficulty in writing queries → optimized using GROUP BY, JOIN, CASE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Creation:</a:t>
            </a: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Designing dashboards was challenging → improved using filters, slicers, KPI cards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Consistency:</a:t>
            </a: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Ensured accuracy across tools by validating data at each stage</a:t>
            </a:r>
          </a:p>
          <a:p>
            <a:pPr marL="329902" lvl="1" indent="-164951" algn="l">
              <a:lnSpc>
                <a:spcPts val="2875"/>
              </a:lnSpc>
              <a:buFont typeface="Arial"/>
              <a:buChar char="•"/>
            </a:pPr>
            <a:r>
              <a:rPr lang="en-US" sz="2187" b="1">
                <a:solidFill>
                  <a:srgbClr val="67534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Time Management:</a:t>
            </a:r>
            <a:r>
              <a:rPr lang="en-US" sz="2187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Managed multiple tasks through proper planning and prioritization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EC8AB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4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068195" y="4546997"/>
            <a:ext cx="8151609" cy="1126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12"/>
              </a:lnSpc>
            </a:pPr>
            <a:r>
              <a:rPr lang="en-US" sz="6374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THANK 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1350</Words>
  <Application>Microsoft Office PowerPoint</Application>
  <PresentationFormat>Custom</PresentationFormat>
  <Paragraphs>249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Montserrat Bold</vt:lpstr>
      <vt:lpstr>Montserrat</vt:lpstr>
      <vt:lpstr>Calibri</vt:lpstr>
      <vt:lpstr>Marcellus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Year-wise Load Factor Analysis</dc:title>
  <dc:creator>HP</dc:creator>
  <cp:lastModifiedBy>srmanagersomna@gmail.com</cp:lastModifiedBy>
  <cp:revision>3</cp:revision>
  <dcterms:created xsi:type="dcterms:W3CDTF">2006-08-16T00:00:00Z</dcterms:created>
  <dcterms:modified xsi:type="dcterms:W3CDTF">2026-03-28T16:31:43Z</dcterms:modified>
  <dc:identifier>DAHFKMPJdJ8</dc:identifier>
</cp:coreProperties>
</file>